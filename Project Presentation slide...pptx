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2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15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2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age-1-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89320" y="0"/>
            <a:ext cx="31546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89320" y="0"/>
            <a:ext cx="3154680" cy="5143500"/>
          </a:xfrm>
          <a:prstGeom prst="rect">
            <a:avLst/>
          </a:prstGeom>
          <a:solidFill>
            <a:srgbClr val="0B1F33">
              <a:alpha val="38000"/>
            </a:srgbClr>
          </a:solidFill>
          <a:ln/>
        </p:spPr>
      </p:sp>
      <p:sp>
        <p:nvSpPr>
          <p:cNvPr id="8" name="Text 3"/>
          <p:cNvSpPr/>
          <p:nvPr/>
        </p:nvSpPr>
        <p:spPr>
          <a:xfrm>
            <a:off x="186587" y="261593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 DIGITAL INITIATIVE PROGRAM  ·  SOUTHWEST REGION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86587" y="1083563"/>
            <a:ext cx="4644905" cy="1678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Upstream Production Optimization &amp; Predictive BOE Analytics</a:t>
            </a:r>
            <a:endParaRPr lang="en-US" sz="2800" dirty="0"/>
          </a:p>
        </p:txBody>
      </p:sp>
      <p:sp>
        <p:nvSpPr>
          <p:cNvPr id="10" name="Text 5"/>
          <p:cNvSpPr/>
          <p:nvPr/>
        </p:nvSpPr>
        <p:spPr>
          <a:xfrm>
            <a:off x="594360" y="363931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612648" y="4059936"/>
            <a:ext cx="10058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594360" y="420624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b="1" kern="0" spc="2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 Fatoye Yetunde   ·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lacked a unified framework linking production performance to financial outcomes. Management needed answers to four critical questions.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50208" cy="1389888"/>
          </a:xfrm>
          <a:prstGeom prst="roundRect">
            <a:avLst>
              <a:gd name="adj" fmla="val 4605"/>
            </a:avLst>
          </a:prstGeom>
          <a:solidFill>
            <a:srgbClr val="EEF4F7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48840"/>
            <a:ext cx="475488" cy="475488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2" y="2277222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1911096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Drivers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399032" y="2258568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fields and wells drive overall production?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09160" y="1691640"/>
            <a:ext cx="3950208" cy="1389888"/>
          </a:xfrm>
          <a:prstGeom prst="roundRect">
            <a:avLst>
              <a:gd name="adj" fmla="val 4605"/>
            </a:avLst>
          </a:prstGeom>
          <a:solidFill>
            <a:srgbClr val="EEF4F7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148840"/>
            <a:ext cx="475488" cy="475488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142" y="2277222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05272" y="1911096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605272" y="2258568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operational factors affect BOE performance?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02920" y="3337560"/>
            <a:ext cx="3950208" cy="1389888"/>
          </a:xfrm>
          <a:prstGeom prst="roundRect">
            <a:avLst>
              <a:gd name="adj" fmla="val 4605"/>
            </a:avLst>
          </a:prstGeom>
          <a:solidFill>
            <a:srgbClr val="EEF4F7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3794760"/>
            <a:ext cx="475488" cy="475488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02" y="3923142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99032" y="3557016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Translation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399032" y="3904488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production translate into revenue and profit?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709160" y="3337560"/>
            <a:ext cx="3950208" cy="1389888"/>
          </a:xfrm>
          <a:prstGeom prst="roundRect">
            <a:avLst>
              <a:gd name="adj" fmla="val 4605"/>
            </a:avLst>
          </a:prstGeom>
          <a:solidFill>
            <a:srgbClr val="EEF4F7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3794760"/>
            <a:ext cx="475488" cy="475488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6142" y="3923142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05272" y="3557016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Exposure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5605272" y="3904488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operational risks could threaten future profitability?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Asset Management  ·  NDI Digital Initiative — Southwest Region</a:t>
            </a:r>
            <a:endParaRPr lang="en-US" sz="850" dirty="0"/>
          </a:p>
        </p:txBody>
      </p:sp>
      <p:sp>
        <p:nvSpPr>
          <p:cNvPr id="26" name="Text 20"/>
          <p:cNvSpPr/>
          <p:nvPr/>
        </p:nvSpPr>
        <p:spPr>
          <a:xfrm>
            <a:off x="8549640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Financial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production performance drives financial success across the portfolio.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760720" y="2662532"/>
            <a:ext cx="3063240" cy="1534564"/>
          </a:xfrm>
          <a:prstGeom prst="roundRect">
            <a:avLst>
              <a:gd name="adj" fmla="val 35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assets/image-3-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778962"/>
            <a:ext cx="2788920" cy="12602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25155" y="431434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 trend — reinforcing the production-to-profit linkage.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162763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30M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2331720" y="170078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kern="0" spc="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 PRODUCED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portfolio production output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52374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$1.26B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2331720" y="2596896"/>
            <a:ext cx="287665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kern="0" spc="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GENERATED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portfolio revenue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2920" y="34198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$1.15B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2331720" y="349300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kern="0" spc="15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ACHIEVED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total portfolio profit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431596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BOE production directly contributes to higher revenue and profitability — confirming production as the primary financial driver.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Asset Management  ·  NDI Digital Initiative — Southwest Region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549640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17" name="Image 0" descr="assets/image-3-2.png">
            <a:extLst>
              <a:ext uri="{FF2B5EF4-FFF2-40B4-BE49-F238E27FC236}">
                <a16:creationId xmlns:a16="http://schemas.microsoft.com/office/drawing/2014/main" id="{D9AC6DDA-4B4B-4D52-996E-1D362D801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959462"/>
            <a:ext cx="3411108" cy="14950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Concentration: Strategic Asset Dependency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4937760" cy="2121227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assets/image-4-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28800"/>
            <a:ext cx="4663440" cy="18469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886019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producing fields by BOE — Agbami and Bonga dominate.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0" y="16002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Agbami and Bonga contribute the largest share of total BOE production and account for the highest revenue contribution. Production and revenue streams are highly dependent on a small number of strategic assets.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15000" y="3310128"/>
            <a:ext cx="2926080" cy="1234440"/>
          </a:xfrm>
          <a:prstGeom prst="roundRect">
            <a:avLst>
              <a:gd name="adj" fmla="val 5185"/>
            </a:avLst>
          </a:prstGeom>
          <a:solidFill>
            <a:srgbClr val="FDF6EC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351129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3438144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C5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within these assets could significantly affect overall company performance.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Asset Management  ·  NDI Digital Initiative — Southwest Region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8549640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Actionable Insight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consolidates production, financial, and operational metrics into a single decision-support view.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4114800"/>
            <a:ext cx="402336" cy="402336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1" y="4223431"/>
            <a:ext cx="185075" cy="1850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33272" y="405993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KPIs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BOE, revenue and profit at a glance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3337560" y="4114800"/>
            <a:ext cx="402336" cy="402336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6191" y="4223431"/>
            <a:ext cx="185075" cy="1850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67912" y="405993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analysis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Field, well and time-period views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172200" y="4114800"/>
            <a:ext cx="402336" cy="402336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831" y="4223431"/>
            <a:ext cx="185075" cy="1850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02552" y="4059936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Operations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Asset Management  ·  NDI Digital Initiative — Southwest Region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8549640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EA1A04-EBC0-4744-A9FC-B4C05DF1DE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246" y="1565149"/>
            <a:ext cx="5846614" cy="24201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image-6-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" y="500449"/>
            <a:ext cx="4294216" cy="35649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8816" y="457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HIGH-PRODUCING WELLS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374292" y="731520"/>
            <a:ext cx="42667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Value Drivers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315968" y="1289304"/>
            <a:ext cx="462414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wells contributes a substantial share of total BOE production — generating the majority of revenue and profit across the portfolio.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386651" y="2139696"/>
            <a:ext cx="475488" cy="475488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092" y="2231502"/>
            <a:ext cx="218724" cy="2187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8626" y="2066544"/>
            <a:ext cx="358074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14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wells generate the majority of portfolio revenue and profit.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494895" y="2843784"/>
            <a:ext cx="475488" cy="475488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3277" y="2935956"/>
            <a:ext cx="218724" cy="2187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78626" y="2792627"/>
            <a:ext cx="3580742" cy="63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Priority</a:t>
            </a:r>
            <a:endParaRPr lang="en-US" sz="14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maintenance of these critical wells is essential to sustaining future profitability.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4544568" y="3657600"/>
            <a:ext cx="475488" cy="475488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1255" y="3708994"/>
            <a:ext cx="218724" cy="2187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78626" y="3588155"/>
            <a:ext cx="3580742" cy="67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Monitoring</a:t>
            </a:r>
            <a:endParaRPr lang="en-US" sz="14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enables early detection of performance issues before they impact financial outcomes.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8549640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4421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Cut: A Critical Operational Metric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197864"/>
            <a:ext cx="41802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cut analysis monitors reservoir health and production efficiency. Rising water production directly impacts costs and profitability if not properly managed.</a:t>
            </a:r>
            <a:endParaRPr lang="en-US" sz="1350" dirty="0"/>
          </a:p>
        </p:txBody>
      </p:sp>
      <p:pic>
        <p:nvPicPr>
          <p:cNvPr id="5" name="Image 0" descr="assets/image-7-7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54880" y="646068"/>
            <a:ext cx="4114800" cy="39625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947672"/>
            <a:ext cx="4069080" cy="685800"/>
          </a:xfrm>
          <a:prstGeom prst="roundRect">
            <a:avLst>
              <a:gd name="adj" fmla="val 7955"/>
            </a:avLst>
          </a:prstGeom>
          <a:solidFill>
            <a:srgbClr val="EEF4F7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85800" y="2011680"/>
            <a:ext cx="438912" cy="438912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06" y="2130186"/>
            <a:ext cx="201900" cy="201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1947672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Treatment Costs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produced water requires more processing capacity.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02920" y="2751795"/>
            <a:ext cx="4069080" cy="740664"/>
          </a:xfrm>
          <a:prstGeom prst="roundRect">
            <a:avLst>
              <a:gd name="adj" fmla="val 7955"/>
            </a:avLst>
          </a:prstGeom>
          <a:solidFill>
            <a:srgbClr val="EEF4F7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85800" y="2944368"/>
            <a:ext cx="438912" cy="438912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06" y="3062874"/>
            <a:ext cx="201900" cy="201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288036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Operating Expenses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handling adds directly to overall OPEX.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02920" y="3620658"/>
            <a:ext cx="4069080" cy="878190"/>
          </a:xfrm>
          <a:prstGeom prst="roundRect">
            <a:avLst>
              <a:gd name="adj" fmla="val 7955"/>
            </a:avLst>
          </a:prstGeom>
          <a:solidFill>
            <a:srgbClr val="EEF4F7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85800" y="3877056"/>
            <a:ext cx="438912" cy="438912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306" y="3995562"/>
            <a:ext cx="201900" cy="201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98448" y="3813048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Production Efficiency</a:t>
            </a:r>
            <a:endParaRPr lang="en-US" sz="13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displacement reduces hydrocarbon output.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Asset Management  ·  NDI Digital Initiative — Southwest Region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8549640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Trends &amp; Future Revenue Outlook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166360" cy="2429404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assets/image-3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4892040" cy="21550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02046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BOE production trend — a sustained decline threatens future revenue.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89320" y="1508760"/>
            <a:ext cx="457200" cy="457200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764" y="1632204"/>
            <a:ext cx="210312" cy="2103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29400" y="1481328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BOE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production trends over time.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989320" y="2350008"/>
            <a:ext cx="457200" cy="457200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2764" y="2473452"/>
            <a:ext cx="210312" cy="2103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29400" y="2322576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Decline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early signs of a sustained drop.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989320" y="3191256"/>
            <a:ext cx="457200" cy="457200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2764" y="3314700"/>
            <a:ext cx="210312" cy="2103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29400" y="3163824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Proactively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 before revenue is impacted.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5989320" y="4041648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revenue depends largely on production output, trend monitoring is the natural entry point for predictive modeling — the focus of the next section.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Asset Management  ·  NDI Digital Initiative — Southwest Region</a:t>
            </a:r>
            <a:endParaRPr lang="en-US" sz="850" dirty="0"/>
          </a:p>
        </p:txBody>
      </p:sp>
      <p:sp>
        <p:nvSpPr>
          <p:cNvPr id="18" name="Text 12"/>
          <p:cNvSpPr/>
          <p:nvPr/>
        </p:nvSpPr>
        <p:spPr>
          <a:xfrm>
            <a:off x="8549640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WAY FORWARD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26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Optimization   </a:t>
            </a: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BOE trends to identify early signs of decline and support proactive intervention planning.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88720" y="2029968"/>
            <a:ext cx="7452360" cy="0"/>
          </a:xfrm>
          <a:prstGeom prst="line">
            <a:avLst/>
          </a:prstGeom>
          <a:noFill/>
          <a:ln w="9525">
            <a:solidFill>
              <a:srgbClr val="E8EE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121408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066544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Protection   </a:t>
            </a: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maintenance for top-performing fields and wells — particularly Agbami and Bonga.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188720" y="2724912"/>
            <a:ext cx="7452360" cy="0"/>
          </a:xfrm>
          <a:prstGeom prst="line">
            <a:avLst/>
          </a:prstGeom>
          <a:noFill/>
          <a:ln w="9525">
            <a:solidFill>
              <a:srgbClr val="E8EE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16352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761488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Management   </a:t>
            </a: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targeted strategies to reduce water handling costs and improve production efficiency.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1188720" y="3419856"/>
            <a:ext cx="7452360" cy="0"/>
          </a:xfrm>
          <a:prstGeom prst="line">
            <a:avLst/>
          </a:prstGeom>
          <a:noFill/>
          <a:ln w="9525">
            <a:solidFill>
              <a:srgbClr val="E8EE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511296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456432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Enhancement   </a:t>
            </a: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capital investment on high-producing, high-revenue assets while optimizing operating expenses.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188720" y="4114800"/>
            <a:ext cx="7452360" cy="0"/>
          </a:xfrm>
          <a:prstGeom prst="line">
            <a:avLst/>
          </a:prstGeom>
          <a:noFill/>
          <a:ln w="9525">
            <a:solidFill>
              <a:srgbClr val="E8EE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206240"/>
            <a:ext cx="457200" cy="457200"/>
          </a:xfrm>
          <a:prstGeom prst="ellipse">
            <a:avLst/>
          </a:prstGeom>
          <a:solidFill>
            <a:srgbClr val="0B1F33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151376"/>
            <a:ext cx="7452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Decision-Making   </a:t>
            </a: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the deployed forecasting and anomaly models to anticipate asset performance and improve operational planning.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Asset Management  ·  NDI Digital Initiative — Southwest Region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549640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Insight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155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demonstrates a strong connection between operational performance and financial outcomes — the fields and wells generating the highest BOE production also contribute the greatest share of revenue and profitability.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EEF4F7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221992"/>
            <a:ext cx="512064" cy="512064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737" y="2360249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88036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Optimization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322783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 output levels to protect revenue.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9272" y="1965960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EEF4F7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0832" y="2221992"/>
            <a:ext cx="512064" cy="512064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089" y="2360249"/>
            <a:ext cx="235549" cy="23554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288036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Reliability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02152" y="322783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top-performing fields and wells.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35624" y="1965960"/>
            <a:ext cx="2615184" cy="1828800"/>
          </a:xfrm>
          <a:prstGeom prst="roundRect">
            <a:avLst>
              <a:gd name="adj" fmla="val 3500"/>
            </a:avLst>
          </a:prstGeom>
          <a:solidFill>
            <a:srgbClr val="EEF4F7"/>
          </a:solidFill>
          <a:ln/>
          <a:effectLst>
            <a:outerShdw blurRad="88900" dist="254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87184" y="2221992"/>
            <a:ext cx="512064" cy="512064"/>
          </a:xfrm>
          <a:prstGeom prst="ellipse">
            <a:avLst/>
          </a:prstGeom>
          <a:solidFill>
            <a:srgbClr val="E4F5F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441" y="2360249"/>
            <a:ext cx="235549" cy="23554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72784" y="2880360"/>
            <a:ext cx="2340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Management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318504" y="3227832"/>
            <a:ext cx="22494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costs and maintain efficiency.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0E8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focus on these three pillars will be critical to sustaining long-term value creation and maximizing asset profitability.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292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Asset Management  ·  NDI Digital Initiative — Southwest Region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8549640" y="482803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751</Words>
  <Application>Microsoft Office PowerPoint</Application>
  <PresentationFormat>On-screen Show (16:9)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Merriweather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Asset Management</dc:title>
  <dc:subject>PptxGenJS Presentation</dc:subject>
  <dc:creator>Data Analytics/ML &amp; AI Team</dc:creator>
  <cp:lastModifiedBy>Yetunde Fatoye</cp:lastModifiedBy>
  <cp:revision>3</cp:revision>
  <dcterms:created xsi:type="dcterms:W3CDTF">2026-07-08T05:52:31Z</dcterms:created>
  <dcterms:modified xsi:type="dcterms:W3CDTF">2026-07-13T12:31:37Z</dcterms:modified>
</cp:coreProperties>
</file>